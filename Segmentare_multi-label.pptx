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63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419100"/>
            <a:ext cx="33557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LUCRARE DE LICENȚĂ · 2026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385084" y="419100"/>
            <a:ext cx="9885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05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90600" y="742950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9534525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9677400"/>
            <a:ext cx="5369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SEGMENTARE SEMANTICĂ · IMAGISTICĂ FETALĂ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212169" y="9677400"/>
            <a:ext cx="2161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RESNET50 · U-NET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914400"/>
            <a:ext cx="83195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97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· IMAGISTICĂ MEDICALĂ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1533525"/>
            <a:ext cx="8319516" cy="3293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kern="0" spc="-9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Segmentarea </a:t>
            </a:r>
            <a:r>
              <a:rPr lang="en-US" sz="6000" i="1" kern="0" spc="-90" dirty="0">
                <a:solidFill>
                  <a:srgbClr val="8B2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multi-label </a:t>
            </a:r>
            <a:r>
              <a:rPr lang="en-US" sz="6000" kern="0" spc="-9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organelor abdominale fetale în imagini ecografice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90600" y="5131594"/>
            <a:ext cx="6864459" cy="1471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850" dirty="0">
                <a:solidFill>
                  <a:srgbClr val="3B4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Arhitectură ResNet50–U-Net pentru identificarea simultană a ficatului, stomacului, venei și arterei.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90600" y="7083921"/>
            <a:ext cx="14664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85604" y="7060109"/>
            <a:ext cx="65736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/>
              <a:t>Alex-Florin Visoiu</a:t>
            </a:r>
          </a:p>
        </p:txBody>
      </p:sp>
      <p:sp>
        <p:nvSpPr>
          <p:cNvPr id="13" name="Text 11"/>
          <p:cNvSpPr/>
          <p:nvPr/>
        </p:nvSpPr>
        <p:spPr>
          <a:xfrm>
            <a:off x="990600" y="7436346"/>
            <a:ext cx="14664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COORDONATOR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85604" y="7412534"/>
            <a:ext cx="65736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/>
              <a:t>Corneliu Florea</a:t>
            </a:r>
          </a:p>
        </p:txBody>
      </p:sp>
      <p:sp>
        <p:nvSpPr>
          <p:cNvPr id="15" name="Text 13"/>
          <p:cNvSpPr/>
          <p:nvPr/>
        </p:nvSpPr>
        <p:spPr>
          <a:xfrm>
            <a:off x="990600" y="7788771"/>
            <a:ext cx="14664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85604" y="7764959"/>
            <a:ext cx="65736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1A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UNSTP </a:t>
            </a:r>
            <a:r>
              <a:rPr lang="en-US" sz="1500" kern="0" spc="60" dirty="0" err="1">
                <a:solidFill>
                  <a:srgbClr val="1A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Bucuresti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0600" y="8141196"/>
            <a:ext cx="14664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SESIUNE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85604" y="8117384"/>
            <a:ext cx="65736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1A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Iulie 2026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58400" y="1815554"/>
            <a:ext cx="7258050" cy="5448300"/>
          </a:xfrm>
          <a:prstGeom prst="rect">
            <a:avLst/>
          </a:prstGeom>
          <a:solidFill>
            <a:srgbClr val="0A0C0E"/>
          </a:solidFill>
          <a:ln w="9525">
            <a:solidFill>
              <a:srgbClr val="C9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67925" y="1825079"/>
            <a:ext cx="7239000" cy="542925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0058400" y="7463879"/>
            <a:ext cx="133350" cy="133350"/>
          </a:xfrm>
          <a:prstGeom prst="rect">
            <a:avLst/>
          </a:prstGeom>
          <a:solidFill>
            <a:srgbClr val="8B2F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287000" y="7435304"/>
            <a:ext cx="642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3B4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FICAT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1119693" y="7463879"/>
            <a:ext cx="133350" cy="133350"/>
          </a:xfrm>
          <a:prstGeom prst="rect">
            <a:avLst/>
          </a:prstGeom>
          <a:solidFill>
            <a:srgbClr val="2C5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348293" y="7435304"/>
            <a:ext cx="7553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3B4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STOMAC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2294096" y="7463879"/>
            <a:ext cx="133350" cy="133350"/>
          </a:xfrm>
          <a:prstGeom prst="rect">
            <a:avLst/>
          </a:prstGeom>
          <a:solidFill>
            <a:srgbClr val="1E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2522696" y="7435304"/>
            <a:ext cx="528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3B4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VENĂ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3242131" y="7463879"/>
            <a:ext cx="133350" cy="133350"/>
          </a:xfrm>
          <a:prstGeom prst="rect">
            <a:avLst/>
          </a:prstGeom>
          <a:solidFill>
            <a:srgbClr val="B8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3470731" y="7435304"/>
            <a:ext cx="7553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3B4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ARTERĂ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419100"/>
            <a:ext cx="26846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DATE DE INTRARE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385084" y="419100"/>
            <a:ext cx="9885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05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90600" y="742950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9534525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9677400"/>
            <a:ext cx="38927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CURĂȚARE · CLAHE · AUGMENTARE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560600" y="9677400"/>
            <a:ext cx="28189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CLASE · MULTI-LABEL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3242" y="700312"/>
            <a:ext cx="8153400" cy="754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de intrare și </a:t>
            </a:r>
            <a:r>
              <a:rPr lang="en-US" sz="4800" i="1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preprocesare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90600" y="1369890"/>
            <a:ext cx="8044815" cy="1626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ro-RO" sz="2250" dirty="0">
                <a:solidFill>
                  <a:srgbClr val="3B4250"/>
                </a:solidFill>
                <a:latin typeface="Arial" pitchFamily="34" charset="0"/>
                <a:cs typeface="Arial" pitchFamily="34" charset="-120"/>
              </a:rPr>
              <a:t>1588 imagini</a:t>
            </a:r>
          </a:p>
          <a:p>
            <a:pPr marL="0" indent="0" algn="l">
              <a:lnSpc>
                <a:spcPct val="142000"/>
              </a:lnSpc>
              <a:buNone/>
            </a:pPr>
            <a:r>
              <a:rPr lang="ro-RO" sz="2250" dirty="0">
                <a:solidFill>
                  <a:srgbClr val="3B4250"/>
                </a:solidFill>
                <a:latin typeface="Arial" pitchFamily="34" charset="0"/>
                <a:cs typeface="Arial" pitchFamily="34" charset="-120"/>
              </a:rPr>
              <a:t>Train 953 – Validare 238 – Test 237</a:t>
            </a:r>
            <a:endParaRPr lang="en-US" sz="2250" dirty="0">
              <a:solidFill>
                <a:srgbClr val="3B4250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42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HorizontalFlip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400" dirty="0"/>
              <a:t>RandomRotate90 + </a:t>
            </a:r>
            <a:r>
              <a:rPr lang="en-US" sz="2400" dirty="0" err="1"/>
              <a:t>RandomBrightnessContrast</a:t>
            </a:r>
            <a:r>
              <a:rPr lang="en-US" sz="2400" dirty="0"/>
              <a:t> (0.2)</a:t>
            </a:r>
          </a:p>
          <a:p>
            <a:pPr>
              <a:lnSpc>
                <a:spcPct val="142000"/>
              </a:lnSpc>
            </a:pPr>
            <a:r>
              <a:rPr lang="en-US" sz="2400" dirty="0" err="1"/>
              <a:t>GaussNoise</a:t>
            </a:r>
            <a:r>
              <a:rPr lang="en-US" sz="2400" dirty="0"/>
              <a:t> + </a:t>
            </a:r>
            <a:r>
              <a:rPr lang="en-US" sz="2400" dirty="0" err="1"/>
              <a:t>ElasticTransform</a:t>
            </a:r>
            <a:r>
              <a:rPr lang="en-US" sz="2400" dirty="0"/>
              <a:t> (0.2)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51011" y="6377434"/>
            <a:ext cx="3771900" cy="2833688"/>
          </a:xfrm>
          <a:prstGeom prst="rect">
            <a:avLst/>
          </a:prstGeom>
          <a:solidFill>
            <a:srgbClr val="0A0C0E"/>
          </a:solidFill>
          <a:ln w="9525">
            <a:solidFill>
              <a:srgbClr val="C9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53934" y="5921989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ECOGRAFIE ORIGINALĂ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1" y="6384515"/>
            <a:ext cx="3771900" cy="2833688"/>
          </a:xfrm>
          <a:prstGeom prst="rect">
            <a:avLst/>
          </a:prstGeom>
          <a:solidFill>
            <a:srgbClr val="0A0C0E"/>
          </a:solidFill>
          <a:ln w="9525">
            <a:solidFill>
              <a:srgbClr val="C9C0A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8993" y="6377434"/>
            <a:ext cx="3752850" cy="28146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09943" y="9302018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ro-RO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CLAHE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9486900" y="914400"/>
            <a:ext cx="80448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97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9486900" y="1419225"/>
            <a:ext cx="8044815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300" kern="0" spc="-16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imagine brută la tensor antrenabil</a:t>
            </a:r>
            <a:endParaRPr lang="en-US" sz="3300" dirty="0"/>
          </a:p>
        </p:txBody>
      </p:sp>
      <p:sp>
        <p:nvSpPr>
          <p:cNvPr id="31" name="Shape 27"/>
          <p:cNvSpPr/>
          <p:nvPr/>
        </p:nvSpPr>
        <p:spPr>
          <a:xfrm>
            <a:off x="9486900" y="2244030"/>
            <a:ext cx="78105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9509188" y="4168800"/>
            <a:ext cx="60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ro-RO" sz="1350" kern="0" spc="135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10252138" y="4111650"/>
            <a:ext cx="727957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Eliminare text &amp; artefacte</a:t>
            </a:r>
            <a:endParaRPr lang="en-US" sz="2100" dirty="0"/>
          </a:p>
        </p:txBody>
      </p:sp>
      <p:sp>
        <p:nvSpPr>
          <p:cNvPr id="34" name="Text 30"/>
          <p:cNvSpPr/>
          <p:nvPr/>
        </p:nvSpPr>
        <p:spPr>
          <a:xfrm>
            <a:off x="10252138" y="4507831"/>
            <a:ext cx="7279577" cy="63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Mascare a marcajelor de interfață (etichete, scale) pentru a păstra doar conținutul anatomic.</a:t>
            </a:r>
            <a:endParaRPr lang="en-US" sz="1650" dirty="0"/>
          </a:p>
        </p:txBody>
      </p:sp>
      <p:sp>
        <p:nvSpPr>
          <p:cNvPr id="35" name="Shape 31"/>
          <p:cNvSpPr/>
          <p:nvPr/>
        </p:nvSpPr>
        <p:spPr>
          <a:xfrm>
            <a:off x="9486900" y="3835301"/>
            <a:ext cx="78105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9528447" y="7027813"/>
            <a:ext cx="60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ro-RO" sz="1350" kern="0" spc="135" dirty="0">
                <a:solidFill>
                  <a:srgbClr val="8B2F35"/>
                </a:solidFill>
                <a:latin typeface="Courier New" pitchFamily="34" charset="0"/>
                <a:cs typeface="Courier New" pitchFamily="34" charset="-120"/>
              </a:rPr>
              <a:t>04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10271397" y="6970663"/>
            <a:ext cx="727957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Filtrare CLAHE</a:t>
            </a:r>
            <a:endParaRPr lang="en-US" sz="2100" dirty="0"/>
          </a:p>
        </p:txBody>
      </p:sp>
      <p:sp>
        <p:nvSpPr>
          <p:cNvPr id="38" name="Text 34"/>
          <p:cNvSpPr/>
          <p:nvPr/>
        </p:nvSpPr>
        <p:spPr>
          <a:xfrm>
            <a:off x="10271397" y="7366843"/>
            <a:ext cx="7279577" cy="63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Egalizare adaptivă a histogramei pentru evidențierea marginilor organelor în zonele cu contrast scăzut.</a:t>
            </a:r>
            <a:endParaRPr lang="en-US" sz="1650" dirty="0"/>
          </a:p>
        </p:txBody>
      </p:sp>
      <p:sp>
        <p:nvSpPr>
          <p:cNvPr id="39" name="Shape 35"/>
          <p:cNvSpPr/>
          <p:nvPr/>
        </p:nvSpPr>
        <p:spPr>
          <a:xfrm>
            <a:off x="9486900" y="5426571"/>
            <a:ext cx="78105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9486900" y="5702796"/>
            <a:ext cx="60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10229850" y="5645646"/>
            <a:ext cx="727957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Augmentare geometrică</a:t>
            </a:r>
            <a:endParaRPr lang="en-US" sz="2100" dirty="0"/>
          </a:p>
        </p:txBody>
      </p:sp>
      <p:sp>
        <p:nvSpPr>
          <p:cNvPr id="42" name="Text 38"/>
          <p:cNvSpPr/>
          <p:nvPr/>
        </p:nvSpPr>
        <p:spPr>
          <a:xfrm>
            <a:off x="10229850" y="6041827"/>
            <a:ext cx="7279577" cy="335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Flip, rotații mici, scalare — pentru a compensa variabilitatea pozițiilor fetale.</a:t>
            </a:r>
            <a:endParaRPr lang="en-US" sz="1650" dirty="0"/>
          </a:p>
        </p:txBody>
      </p:sp>
      <p:sp>
        <p:nvSpPr>
          <p:cNvPr id="43" name="Shape 39"/>
          <p:cNvSpPr/>
          <p:nvPr/>
        </p:nvSpPr>
        <p:spPr>
          <a:xfrm>
            <a:off x="9486900" y="8140154"/>
            <a:ext cx="78105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9486900" y="6720334"/>
            <a:ext cx="78105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9528447" y="2645229"/>
            <a:ext cx="6096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ro-RO" sz="1350" kern="0" spc="135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46" name="Text 42"/>
          <p:cNvSpPr/>
          <p:nvPr/>
        </p:nvSpPr>
        <p:spPr>
          <a:xfrm>
            <a:off x="10271397" y="2588079"/>
            <a:ext cx="727957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Normalizare &amp; redimensionare</a:t>
            </a:r>
            <a:endParaRPr lang="en-US" sz="2100" dirty="0"/>
          </a:p>
        </p:txBody>
      </p:sp>
      <p:sp>
        <p:nvSpPr>
          <p:cNvPr id="47" name="Text 43"/>
          <p:cNvSpPr/>
          <p:nvPr/>
        </p:nvSpPr>
        <p:spPr>
          <a:xfrm>
            <a:off x="10271397" y="2984259"/>
            <a:ext cx="7279577" cy="797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Conversie grayscale, scalare la rezoluția modelului, normalizare per imagine.</a:t>
            </a:r>
          </a:p>
          <a:p>
            <a:pPr>
              <a:lnSpc>
                <a:spcPct val="142000"/>
              </a:lnSpc>
            </a:pPr>
            <a:r>
              <a:rPr lang="en-US" sz="1600" dirty="0"/>
              <a:t>Resize(256, 256) / Normalize(mean=(0.0,), std=(1.0,))</a:t>
            </a:r>
            <a:endParaRPr lang="en-US" sz="16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FC068E1-C3A6-2C36-4BF3-BA69AA709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58" y="6367909"/>
            <a:ext cx="3771901" cy="283368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5DD44A0-37F9-C405-9F08-3BC0D0065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1010" y="3317039"/>
            <a:ext cx="3424623" cy="2547586"/>
          </a:xfrm>
          <a:prstGeom prst="rect">
            <a:avLst/>
          </a:prstGeom>
        </p:spPr>
      </p:pic>
      <p:sp>
        <p:nvSpPr>
          <p:cNvPr id="52" name="Text 10">
            <a:extLst>
              <a:ext uri="{FF2B5EF4-FFF2-40B4-BE49-F238E27FC236}">
                <a16:creationId xmlns:a16="http://schemas.microsoft.com/office/drawing/2014/main" id="{F37B996C-1560-4F7B-4228-DCD06DAF41B1}"/>
              </a:ext>
            </a:extLst>
          </p:cNvPr>
          <p:cNvSpPr/>
          <p:nvPr/>
        </p:nvSpPr>
        <p:spPr>
          <a:xfrm>
            <a:off x="1228481" y="9255370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02. F</a:t>
            </a:r>
            <a:r>
              <a:rPr lang="ro-RO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ĂRĂ</a:t>
            </a: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419100"/>
            <a:ext cx="2161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METODOLOGIE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385084" y="419100"/>
            <a:ext cx="9885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05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90600" y="742950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4349" y="9748837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349" y="9753600"/>
            <a:ext cx="48322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 PRE-ANTRENAT · DECODER U-NET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444609" y="9814983"/>
            <a:ext cx="37584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BCE PONDERAT + FOCAL TVERSKY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914400"/>
            <a:ext cx="26936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97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ARHITECTURĂ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1119187"/>
            <a:ext cx="16796004" cy="754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</a:t>
            </a:r>
            <a:r>
              <a:rPr lang="en-US" sz="4800" i="1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ResNet50 </a:t>
            </a:r>
            <a:r>
              <a:rPr lang="en-US" sz="4800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Decoder U-Net cu </a:t>
            </a:r>
            <a:r>
              <a:rPr lang="en-US" sz="4800" i="1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connections</a:t>
            </a:r>
            <a:endParaRPr lang="en-US" sz="48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84DDE04-2FBD-C1B3-51B5-23BB4C8175E4}"/>
              </a:ext>
            </a:extLst>
          </p:cNvPr>
          <p:cNvGrpSpPr/>
          <p:nvPr/>
        </p:nvGrpSpPr>
        <p:grpSpPr>
          <a:xfrm>
            <a:off x="-12412" y="1873448"/>
            <a:ext cx="15480566" cy="5395097"/>
            <a:chOff x="1038986" y="2488704"/>
            <a:chExt cx="16306800" cy="5950446"/>
          </a:xfrm>
        </p:grpSpPr>
        <p:sp>
          <p:nvSpPr>
            <p:cNvPr id="10" name="Shape 8"/>
            <p:cNvSpPr/>
            <p:nvPr/>
          </p:nvSpPr>
          <p:spPr>
            <a:xfrm>
              <a:off x="1038986" y="2488704"/>
              <a:ext cx="16306800" cy="5950446"/>
            </a:xfrm>
            <a:prstGeom prst="rect">
              <a:avLst/>
            </a:prstGeom>
            <a:solidFill>
              <a:srgbClr val="FBF8F1"/>
            </a:solidFill>
            <a:ln w="9525">
              <a:solidFill>
                <a:srgbClr val="C9C0AE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171230" y="5135761"/>
              <a:ext cx="762000" cy="971550"/>
            </a:xfrm>
            <a:prstGeom prst="rect">
              <a:avLst/>
            </a:prstGeom>
            <a:solidFill>
              <a:srgbClr val="DCD3BF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3098750" y="6202561"/>
              <a:ext cx="983159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CONV1 · 64</a:t>
              </a:r>
              <a:endParaRPr lang="en-US" sz="10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435525" y="4754761"/>
              <a:ext cx="762000" cy="1352550"/>
            </a:xfrm>
            <a:prstGeom prst="rect">
              <a:avLst/>
            </a:prstGeom>
            <a:solidFill>
              <a:srgbClr val="DCD3BF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4272409" y="6202561"/>
              <a:ext cx="1164580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STAGE2 · 256</a:t>
              </a:r>
              <a:endParaRPr lang="en-US" sz="10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790605" y="4278511"/>
              <a:ext cx="762000" cy="1828800"/>
            </a:xfrm>
            <a:prstGeom prst="rect">
              <a:avLst/>
            </a:prstGeom>
            <a:solidFill>
              <a:srgbClr val="DCD3BF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627489" y="6202561"/>
              <a:ext cx="1164580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STAGE3 · 512</a:t>
              </a:r>
              <a:endParaRPr lang="en-US" sz="10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191077" y="3802261"/>
              <a:ext cx="762000" cy="2305050"/>
            </a:xfrm>
            <a:prstGeom prst="rect">
              <a:avLst/>
            </a:prstGeom>
            <a:solidFill>
              <a:srgbClr val="DCD3BF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6982569" y="6202561"/>
              <a:ext cx="1255216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STAGE4 · 1024</a:t>
              </a:r>
              <a:endParaRPr lang="en-US" sz="10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9075390" y="3421261"/>
              <a:ext cx="590550" cy="2686050"/>
            </a:xfrm>
            <a:prstGeom prst="rect">
              <a:avLst/>
            </a:prstGeom>
            <a:solidFill>
              <a:srgbClr val="1A1F26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8599736" y="6202561"/>
              <a:ext cx="1618059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1A1F2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BOTTLENECK · 2048</a:t>
              </a:r>
              <a:endParaRPr lang="en-US" sz="10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10652224" y="3802261"/>
              <a:ext cx="762000" cy="2305050"/>
            </a:xfrm>
            <a:prstGeom prst="rect">
              <a:avLst/>
            </a:prstGeom>
            <a:solidFill>
              <a:srgbClr val="E8DCC8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0579745" y="6202561"/>
              <a:ext cx="983159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UP4 · 1024</a:t>
              </a:r>
              <a:endParaRPr lang="en-US" sz="10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1780490" y="4278511"/>
              <a:ext cx="762000" cy="1828800"/>
            </a:xfrm>
            <a:prstGeom prst="rect">
              <a:avLst/>
            </a:prstGeom>
            <a:solidFill>
              <a:srgbClr val="E8DCC8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11753404" y="6202561"/>
              <a:ext cx="892522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UP3 · 512</a:t>
              </a:r>
              <a:endParaRPr lang="en-US" sz="10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2863513" y="4754761"/>
              <a:ext cx="762000" cy="1352550"/>
            </a:xfrm>
            <a:prstGeom prst="rect">
              <a:avLst/>
            </a:prstGeom>
            <a:solidFill>
              <a:srgbClr val="E8DCC8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12836426" y="6202561"/>
              <a:ext cx="892522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UP2 · 256</a:t>
              </a:r>
              <a:endParaRPr lang="en-US" sz="10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4173349" y="5135761"/>
              <a:ext cx="762000" cy="971550"/>
            </a:xfrm>
            <a:prstGeom prst="rect">
              <a:avLst/>
            </a:prstGeom>
            <a:solidFill>
              <a:srgbClr val="E8DCC8"/>
            </a:solidFill>
            <a:ln w="9525">
              <a:solidFill>
                <a:srgbClr val="1A1F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13919448" y="6202561"/>
              <a:ext cx="1346002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050" kern="0" spc="8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OUT · 4 MASTI</a:t>
              </a:r>
              <a:endParaRPr lang="en-US" sz="10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1457325" y="6583561"/>
              <a:ext cx="15373350" cy="9525"/>
            </a:xfrm>
            <a:prstGeom prst="rect">
              <a:avLst/>
            </a:prstGeom>
            <a:solidFill>
              <a:srgbClr val="C9C0A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1457325" y="6802636"/>
              <a:ext cx="3317413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200" kern="0" spc="168" dirty="0">
                  <a:solidFill>
                    <a:srgbClr val="8B2F3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ENCODER</a:t>
              </a:r>
              <a:endParaRPr lang="en-US" sz="12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457325" y="7050286"/>
              <a:ext cx="3317413" cy="89267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50" dirty="0">
                  <a:solidFill>
                    <a:srgbClr val="1A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ResNet50 pre-antrenat ImageNet, adaptat pentru input grayscale (1 canal).</a:t>
              </a:r>
              <a:endParaRPr lang="en-US" sz="16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7533680" y="6802636"/>
              <a:ext cx="3317413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200" kern="0" spc="168" dirty="0">
                  <a:solidFill>
                    <a:srgbClr val="8B2F3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SKIP CONNECTIONS</a:t>
              </a:r>
              <a:endParaRPr lang="en-US" sz="1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533680" y="7050286"/>
              <a:ext cx="3317413" cy="89267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50" dirty="0">
                  <a:solidFill>
                    <a:srgbClr val="1A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Recuperează detaliile spațiale pierdute prin downsampling — esențial pentru structuri fine.</a:t>
              </a:r>
              <a:endParaRPr lang="en-US" sz="16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13609886" y="6802636"/>
              <a:ext cx="3317413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20000"/>
            </a:bodyPr>
            <a:lstStyle/>
            <a:p>
              <a:pPr marL="0" indent="0" algn="l">
                <a:buNone/>
              </a:pPr>
              <a:r>
                <a:rPr lang="en-US" sz="1200" kern="0" spc="168" dirty="0">
                  <a:solidFill>
                    <a:srgbClr val="8B2F3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DECODER</a:t>
              </a:r>
              <a:endParaRPr lang="en-US" sz="12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3609886" y="7050286"/>
              <a:ext cx="3317413" cy="89267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10000"/>
            </a:bodyPr>
            <a:lstStyle/>
            <a:p>
              <a:pPr marL="0" indent="0" algn="l">
                <a:lnSpc>
                  <a:spcPct val="136000"/>
                </a:lnSpc>
                <a:buNone/>
              </a:pPr>
              <a:r>
                <a:rPr lang="en-US" sz="1650" dirty="0">
                  <a:solidFill>
                    <a:srgbClr val="1A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Blocuri de upsampling + convoluții, ieșire pe 4 canale (sigmoid per clasă).</a:t>
              </a:r>
              <a:endParaRPr lang="en-US" sz="1650" dirty="0"/>
            </a:p>
          </p:txBody>
        </p:sp>
      </p:grpSp>
      <p:sp>
        <p:nvSpPr>
          <p:cNvPr id="40" name="Shape 38"/>
          <p:cNvSpPr/>
          <p:nvPr/>
        </p:nvSpPr>
        <p:spPr>
          <a:xfrm>
            <a:off x="1135953" y="7860209"/>
            <a:ext cx="7924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17461" y="8014241"/>
            <a:ext cx="81625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FUNCȚIA DE LOSS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62328" y="8240617"/>
            <a:ext cx="8162544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25000"/>
              </a:lnSpc>
            </a:pPr>
            <a:r>
              <a:rPr lang="en-US" sz="2400" dirty="0"/>
              <a:t>Weighted BCE Loss 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</a:t>
            </a:r>
            <a:r>
              <a:rPr lang="en-US" sz="225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Focal Tversky cu alfa =0.4 &amp; beta 0.6 </a:t>
            </a:r>
            <a:r>
              <a:rPr lang="en-US" sz="16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Combinație care penalizează atât pixelii dificili, cât și dezechilibrul </a:t>
            </a:r>
            <a:r>
              <a:rPr lang="en-US" sz="1650" dirty="0" err="1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claselor</a:t>
            </a:r>
            <a:r>
              <a:rPr lang="en-US" sz="16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9517953" y="7860209"/>
            <a:ext cx="7924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2540" y="8062568"/>
            <a:ext cx="816254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PONDERE POZITIVĂ · </a:t>
            </a:r>
            <a:r>
              <a:rPr lang="en-US" sz="135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POS_WEIGHT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49195" y="8274452"/>
            <a:ext cx="7246411" cy="1127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25000"/>
              </a:lnSpc>
            </a:pP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Pondere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mare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pentru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clasa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suprafața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cea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mică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în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50" dirty="0" err="1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mască</a:t>
            </a:r>
            <a:r>
              <a:rPr lang="en-US" sz="225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r>
              <a:rPr lang="en-US" dirty="0" err="1"/>
              <a:t>pos_weights</a:t>
            </a:r>
            <a:r>
              <a:rPr lang="en-US" dirty="0"/>
              <a:t> = </a:t>
            </a:r>
            <a:r>
              <a:rPr lang="en-US" dirty="0" err="1"/>
              <a:t>torch.tensor</a:t>
            </a:r>
            <a:r>
              <a:rPr lang="en-US" dirty="0"/>
              <a:t>([150.0, 15.0, 20.0, 30.0])</a:t>
            </a:r>
          </a:p>
          <a:p>
            <a:pPr>
              <a:lnSpc>
                <a:spcPct val="125000"/>
              </a:lnSpc>
            </a:pPr>
            <a:r>
              <a:rPr lang="en-US" dirty="0" err="1"/>
              <a:t>Artera</a:t>
            </a:r>
            <a:r>
              <a:rPr lang="en-US" dirty="0"/>
              <a:t> </a:t>
            </a:r>
            <a:r>
              <a:rPr lang="en-US" dirty="0" err="1"/>
              <a:t>Ficat</a:t>
            </a:r>
            <a:r>
              <a:rPr lang="en-US" dirty="0"/>
              <a:t> </a:t>
            </a:r>
            <a:r>
              <a:rPr lang="en-US" dirty="0" err="1"/>
              <a:t>Stomac</a:t>
            </a:r>
            <a:r>
              <a:rPr lang="en-US" dirty="0"/>
              <a:t> Vena</a:t>
            </a:r>
          </a:p>
          <a:p>
            <a:pPr>
              <a:lnSpc>
                <a:spcPct val="125000"/>
              </a:lnSpc>
            </a:pPr>
            <a:endParaRPr lang="en-US" sz="2250" dirty="0"/>
          </a:p>
          <a:p>
            <a:pPr marL="0" indent="0" algn="l">
              <a:lnSpc>
                <a:spcPct val="125000"/>
              </a:lnSpc>
              <a:buNone/>
            </a:pP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9517953" y="8374559"/>
            <a:ext cx="7693161" cy="766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22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1270811-FB69-11EB-0229-7A37DF201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2154" y="1808263"/>
            <a:ext cx="2809515" cy="7593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419100"/>
            <a:ext cx="190068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REZULTATE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385084" y="419100"/>
            <a:ext cx="9885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05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90600" y="742950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9534525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9677400"/>
            <a:ext cx="34900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DICE · IOU · SENSIBILITATE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39404" y="9677400"/>
            <a:ext cx="33557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VALIDARE PE SETUL DE TEST</a:t>
            </a:r>
            <a:endParaRPr lang="en-US" sz="135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A081FF4-074B-6B24-A3A5-2236A63A7946}"/>
              </a:ext>
            </a:extLst>
          </p:cNvPr>
          <p:cNvGrpSpPr/>
          <p:nvPr/>
        </p:nvGrpSpPr>
        <p:grpSpPr>
          <a:xfrm>
            <a:off x="528488" y="1326281"/>
            <a:ext cx="8401943" cy="6775400"/>
            <a:chOff x="1409700" y="1091899"/>
            <a:chExt cx="8401943" cy="6775400"/>
          </a:xfrm>
        </p:grpSpPr>
        <p:sp>
          <p:nvSpPr>
            <p:cNvPr id="8" name="Shape 6"/>
            <p:cNvSpPr/>
            <p:nvPr/>
          </p:nvSpPr>
          <p:spPr>
            <a:xfrm>
              <a:off x="1409700" y="1091899"/>
              <a:ext cx="8401943" cy="6775400"/>
            </a:xfrm>
            <a:prstGeom prst="rect">
              <a:avLst/>
            </a:prstGeom>
            <a:solidFill>
              <a:srgbClr val="FBF8F1"/>
            </a:solidFill>
            <a:ln w="9525">
              <a:solidFill>
                <a:srgbClr val="C9C0AE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3050" y="1322136"/>
              <a:ext cx="8039993" cy="6108650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1431975" y="7489775"/>
              <a:ext cx="8281193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200" kern="0" spc="14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COMPARAȚIE VIZUALĂ · GROUND TRUTH VS. PREDICȚIE MODEL</a:t>
              </a:r>
              <a:r>
                <a:rPr lang="ro-RO" sz="1200" kern="0" spc="144" dirty="0">
                  <a:solidFill>
                    <a:srgbClr val="6E6A6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90 EPOCHS WEIGHTS</a:t>
              </a:r>
              <a:endParaRPr lang="en-US" sz="1200" dirty="0"/>
            </a:p>
          </p:txBody>
        </p:sp>
      </p:grpSp>
      <p:sp>
        <p:nvSpPr>
          <p:cNvPr id="11" name="Text 8"/>
          <p:cNvSpPr/>
          <p:nvPr/>
        </p:nvSpPr>
        <p:spPr>
          <a:xfrm>
            <a:off x="9640193" y="914400"/>
            <a:ext cx="26936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97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PERFORMANȚĂ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640193" y="1323975"/>
            <a:ext cx="7886923" cy="1394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 per organ și </a:t>
            </a:r>
            <a:r>
              <a:rPr lang="en-US" sz="4800" i="1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generalizare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9640193" y="4959251"/>
            <a:ext cx="2366814" cy="9525"/>
          </a:xfrm>
          <a:prstGeom prst="rect">
            <a:avLst/>
          </a:prstGeom>
          <a:solidFill>
            <a:srgbClr val="1A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773543" y="4602063"/>
            <a:ext cx="2176314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2007007" y="4959251"/>
            <a:ext cx="2181820" cy="9525"/>
          </a:xfrm>
          <a:prstGeom prst="rect">
            <a:avLst/>
          </a:prstGeom>
          <a:solidFill>
            <a:srgbClr val="1A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064157" y="4602063"/>
            <a:ext cx="1991320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DICE (F1)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4188827" y="4959251"/>
            <a:ext cx="1310283" cy="9525"/>
          </a:xfrm>
          <a:prstGeom prst="rect">
            <a:avLst/>
          </a:prstGeom>
          <a:solidFill>
            <a:srgbClr val="1A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245977" y="4602063"/>
            <a:ext cx="1119783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IOU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5499110" y="4959251"/>
            <a:ext cx="1798290" cy="9525"/>
          </a:xfrm>
          <a:prstGeom prst="rect">
            <a:avLst/>
          </a:prstGeom>
          <a:solidFill>
            <a:srgbClr val="1A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5556260" y="4602063"/>
            <a:ext cx="1607790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00" kern="0" spc="168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SENSIB.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640193" y="5621238"/>
            <a:ext cx="2366814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773543" y="5240238"/>
            <a:ext cx="114300" cy="114300"/>
          </a:xfrm>
          <a:prstGeom prst="rect">
            <a:avLst/>
          </a:prstGeom>
          <a:solidFill>
            <a:srgbClr val="8B2F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021193" y="5144988"/>
            <a:ext cx="6616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Ficat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2007007" y="5621238"/>
            <a:ext cx="218182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2064157" y="5140226"/>
            <a:ext cx="19913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0.6339 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4188827" y="5621238"/>
            <a:ext cx="1310283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4245977" y="5140226"/>
            <a:ext cx="111978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0.4739  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5499110" y="5621238"/>
            <a:ext cx="179829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5556260" y="5140226"/>
            <a:ext cx="16077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0.8705 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9640193" y="6278463"/>
            <a:ext cx="2366814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773543" y="5897463"/>
            <a:ext cx="114300" cy="114300"/>
          </a:xfrm>
          <a:prstGeom prst="rect">
            <a:avLst/>
          </a:prstGeom>
          <a:solidFill>
            <a:srgbClr val="2C5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021193" y="5802213"/>
            <a:ext cx="952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Stomac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12007007" y="6278463"/>
            <a:ext cx="218182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2064157" y="5802213"/>
            <a:ext cx="1991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0.5861 </a:t>
            </a:r>
            <a:endParaRPr lang="en-US" sz="1650" dirty="0"/>
          </a:p>
        </p:txBody>
      </p:sp>
      <p:sp>
        <p:nvSpPr>
          <p:cNvPr id="36" name="Shape 33"/>
          <p:cNvSpPr/>
          <p:nvPr/>
        </p:nvSpPr>
        <p:spPr>
          <a:xfrm>
            <a:off x="14188827" y="6278463"/>
            <a:ext cx="1310283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4245977" y="5802213"/>
            <a:ext cx="11197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0.4500 </a:t>
            </a:r>
            <a:endParaRPr lang="en-US" sz="1650" dirty="0"/>
          </a:p>
        </p:txBody>
      </p:sp>
      <p:sp>
        <p:nvSpPr>
          <p:cNvPr id="38" name="Shape 35"/>
          <p:cNvSpPr/>
          <p:nvPr/>
        </p:nvSpPr>
        <p:spPr>
          <a:xfrm>
            <a:off x="15499110" y="6278463"/>
            <a:ext cx="179829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5556260" y="5802213"/>
            <a:ext cx="16077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0.6497 </a:t>
            </a:r>
            <a:endParaRPr lang="en-US" sz="1650" dirty="0"/>
          </a:p>
        </p:txBody>
      </p:sp>
      <p:sp>
        <p:nvSpPr>
          <p:cNvPr id="40" name="Shape 37"/>
          <p:cNvSpPr/>
          <p:nvPr/>
        </p:nvSpPr>
        <p:spPr>
          <a:xfrm>
            <a:off x="9640193" y="6935688"/>
            <a:ext cx="2366814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773543" y="6554688"/>
            <a:ext cx="114300" cy="114300"/>
          </a:xfrm>
          <a:prstGeom prst="rect">
            <a:avLst/>
          </a:prstGeom>
          <a:solidFill>
            <a:srgbClr val="1E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021193" y="6459438"/>
            <a:ext cx="6749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Venă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12007007" y="6935688"/>
            <a:ext cx="218182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2064157" y="6459438"/>
            <a:ext cx="1991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0.6852 </a:t>
            </a:r>
            <a:endParaRPr lang="en-US" sz="1650" dirty="0"/>
          </a:p>
        </p:txBody>
      </p:sp>
      <p:sp>
        <p:nvSpPr>
          <p:cNvPr id="45" name="Shape 42"/>
          <p:cNvSpPr/>
          <p:nvPr/>
        </p:nvSpPr>
        <p:spPr>
          <a:xfrm>
            <a:off x="14188827" y="6935688"/>
            <a:ext cx="1310283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4245977" y="6459438"/>
            <a:ext cx="11197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0.5289 </a:t>
            </a:r>
            <a:endParaRPr lang="en-US" sz="1650" dirty="0"/>
          </a:p>
        </p:txBody>
      </p:sp>
      <p:sp>
        <p:nvSpPr>
          <p:cNvPr id="47" name="Shape 44"/>
          <p:cNvSpPr/>
          <p:nvPr/>
        </p:nvSpPr>
        <p:spPr>
          <a:xfrm>
            <a:off x="15499110" y="6935688"/>
            <a:ext cx="179829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5556260" y="6459438"/>
            <a:ext cx="16077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0.7580 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9640193" y="7592913"/>
            <a:ext cx="2366814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9773543" y="7211913"/>
            <a:ext cx="114300" cy="114300"/>
          </a:xfrm>
          <a:prstGeom prst="rect">
            <a:avLst/>
          </a:prstGeom>
          <a:solidFill>
            <a:srgbClr val="B889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021193" y="7116663"/>
            <a:ext cx="8291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Arteră</a:t>
            </a:r>
            <a:endParaRPr lang="en-US" sz="2100" dirty="0"/>
          </a:p>
        </p:txBody>
      </p:sp>
      <p:sp>
        <p:nvSpPr>
          <p:cNvPr id="52" name="Shape 49"/>
          <p:cNvSpPr/>
          <p:nvPr/>
        </p:nvSpPr>
        <p:spPr>
          <a:xfrm>
            <a:off x="12007007" y="7592913"/>
            <a:ext cx="218182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12064157" y="7116663"/>
            <a:ext cx="1991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0.5634 </a:t>
            </a:r>
            <a:endParaRPr lang="en-US" sz="1650" dirty="0"/>
          </a:p>
        </p:txBody>
      </p:sp>
      <p:sp>
        <p:nvSpPr>
          <p:cNvPr id="54" name="Shape 51"/>
          <p:cNvSpPr/>
          <p:nvPr/>
        </p:nvSpPr>
        <p:spPr>
          <a:xfrm>
            <a:off x="14188827" y="7592913"/>
            <a:ext cx="1310283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4245977" y="7116663"/>
            <a:ext cx="11197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0.4187 </a:t>
            </a:r>
            <a:endParaRPr lang="en-US" sz="1650" dirty="0"/>
          </a:p>
        </p:txBody>
      </p:sp>
      <p:sp>
        <p:nvSpPr>
          <p:cNvPr id="56" name="Shape 53"/>
          <p:cNvSpPr/>
          <p:nvPr/>
        </p:nvSpPr>
        <p:spPr>
          <a:xfrm>
            <a:off x="15499110" y="7592913"/>
            <a:ext cx="179829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5556260" y="7116663"/>
            <a:ext cx="16077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/>
            <a:r>
              <a:rPr lang="ro-RO" dirty="0"/>
              <a:t>0.6835 </a:t>
            </a:r>
            <a:endParaRPr lang="en-US" sz="1650" dirty="0"/>
          </a:p>
        </p:txBody>
      </p:sp>
      <p:sp>
        <p:nvSpPr>
          <p:cNvPr id="58" name="Shape 55"/>
          <p:cNvSpPr/>
          <p:nvPr/>
        </p:nvSpPr>
        <p:spPr>
          <a:xfrm>
            <a:off x="9640193" y="7778651"/>
            <a:ext cx="7657207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419100"/>
            <a:ext cx="190068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CONCLUZII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385084" y="419100"/>
            <a:ext cx="98851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05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90600" y="742950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9534525"/>
            <a:ext cx="16306800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9677400"/>
            <a:ext cx="42954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CLINIC · BIOMETRIE FETALĂ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994112" y="9677400"/>
            <a:ext cx="13794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MULȚUMESC!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914400"/>
            <a:ext cx="23645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97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CONCLUZII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1323975"/>
            <a:ext cx="8386658" cy="1394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am demonstrat și ce </a:t>
            </a:r>
            <a:r>
              <a:rPr lang="en-US" sz="4800" i="1" kern="0" spc="-58" dirty="0">
                <a:solidFill>
                  <a:srgbClr val="1A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urmează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90600" y="2794397"/>
            <a:ext cx="60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8B2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33550" y="2889647"/>
            <a:ext cx="7621420" cy="72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ResNet50–U-Net </a:t>
            </a:r>
            <a:r>
              <a:rPr lang="en-US" sz="195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rezolvă eficient segmentarea multi-label simultană a celor patru structuri abdominale fetale.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3839468"/>
            <a:ext cx="60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8B2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733550" y="3934718"/>
            <a:ext cx="7621420" cy="72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Preprocesarea cu </a:t>
            </a:r>
            <a:r>
              <a:rPr lang="en-US" sz="195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</a:t>
            </a:r>
            <a:r>
              <a:rPr lang="en-US" sz="195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și eliminarea artefactelor au un impact măsurabil asupra calității segmentării.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0600" y="4884539"/>
            <a:ext cx="609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8B2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33550" y="4979789"/>
            <a:ext cx="7621420" cy="72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Loss-ul ponderat (</a:t>
            </a:r>
            <a:r>
              <a:rPr lang="en-US" sz="1950" b="1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 + Focal Tversky </a:t>
            </a:r>
            <a:r>
              <a:rPr lang="en-US" sz="1950" dirty="0">
                <a:solidFill>
                  <a:srgbClr val="1A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compensează dezechilibrul claselor mici, în special pentru arteră.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0600" y="6005810"/>
            <a:ext cx="8142387" cy="9525"/>
          </a:xfrm>
          <a:prstGeom prst="rect">
            <a:avLst/>
          </a:prstGeom>
          <a:solidFill>
            <a:srgbClr val="C9C0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6282035"/>
            <a:ext cx="83866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8B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DIRECȚII VIITOARE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3915" y="6586835"/>
            <a:ext cx="8365272" cy="1108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Integrare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într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-un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clinic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pentru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biometrie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fetală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automată</a:t>
            </a:r>
            <a:endParaRPr lang="en-US" sz="16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Extindere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secvențe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video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ecografice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consistență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 err="1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temporală</a:t>
            </a:r>
            <a:r>
              <a:rPr lang="en-US" sz="1650" dirty="0">
                <a:solidFill>
                  <a:srgbClr val="3B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894987" y="1507629"/>
            <a:ext cx="7402413" cy="5556498"/>
          </a:xfrm>
          <a:prstGeom prst="rect">
            <a:avLst/>
          </a:prstGeom>
          <a:solidFill>
            <a:srgbClr val="0A0C0E"/>
          </a:solidFill>
          <a:ln w="9525">
            <a:solidFill>
              <a:srgbClr val="C9C0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4512" y="1517154"/>
            <a:ext cx="7383363" cy="55374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0056912" y="6654552"/>
            <a:ext cx="3940820" cy="2667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152162" y="6711702"/>
            <a:ext cx="38685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FFFFFF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SUPRAPUNEREA MĂȘTILOR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Custom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VISOIU Alex</cp:lastModifiedBy>
  <cp:revision>3</cp:revision>
  <dcterms:created xsi:type="dcterms:W3CDTF">2026-05-13T10:10:33Z</dcterms:created>
  <dcterms:modified xsi:type="dcterms:W3CDTF">2026-05-13T11:05:53Z</dcterms:modified>
</cp:coreProperties>
</file>